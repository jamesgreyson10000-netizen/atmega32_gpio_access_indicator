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3" r:id="rId6"/>
    <p:sldId id="260" r:id="rId7"/>
    <p:sldId id="261" r:id="rId8"/>
    <p:sldId id="266" r:id="rId9"/>
    <p:sldId id="267" r:id="rId10"/>
    <p:sldId id="268" r:id="rId11"/>
    <p:sldId id="277" r:id="rId12"/>
    <p:sldId id="271" r:id="rId13"/>
    <p:sldId id="272" r:id="rId14"/>
    <p:sldId id="273" r:id="rId15"/>
    <p:sldId id="275" r:id="rId16"/>
    <p:sldId id="274" r:id="rId17"/>
    <p:sldId id="276" r:id="rId18"/>
    <p:sldId id="265" r:id="rId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21" autoAdjust="0"/>
    <p:restoredTop sz="94660"/>
  </p:normalViewPr>
  <p:slideViewPr>
    <p:cSldViewPr snapToGrid="0" snapToObjects="1">
      <p:cViewPr varScale="1">
        <p:scale>
          <a:sx n="68" d="100"/>
          <a:sy n="68" d="100"/>
        </p:scale>
        <p:origin x="1458"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dirty="0"/>
              <a:t>Digital Input/Output-Based Security Access Indicator</a:t>
            </a:r>
          </a:p>
        </p:txBody>
      </p:sp>
      <p:sp>
        <p:nvSpPr>
          <p:cNvPr id="3" name="Subtitle 2"/>
          <p:cNvSpPr>
            <a:spLocks noGrp="1"/>
          </p:cNvSpPr>
          <p:nvPr>
            <p:ph type="subTitle" idx="1"/>
          </p:nvPr>
        </p:nvSpPr>
        <p:spPr/>
        <p:txBody>
          <a:bodyPr/>
          <a:lstStyle/>
          <a:p>
            <a:r>
              <a:rPr lang="en-US" dirty="0"/>
              <a:t> group 01</a:t>
            </a:r>
          </a:p>
          <a:p>
            <a:r>
              <a:rPr lang="en-US" dirty="0"/>
              <a:t>BSc-CE3</a:t>
            </a:r>
          </a:p>
          <a:p>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Problem Statement</a:t>
            </a:r>
          </a:p>
        </p:txBody>
      </p:sp>
      <p:sp>
        <p:nvSpPr>
          <p:cNvPr id="3" name="Content Placeholder 2"/>
          <p:cNvSpPr>
            <a:spLocks noGrp="1"/>
          </p:cNvSpPr>
          <p:nvPr>
            <p:ph idx="1"/>
          </p:nvPr>
        </p:nvSpPr>
        <p:spPr/>
        <p:txBody>
          <a:bodyPr/>
          <a:lstStyle/>
          <a:p>
            <a:pPr>
              <a:defRPr sz="2400"/>
            </a:pPr>
            <a:r>
              <a:rPr lang="en-US" dirty="0"/>
              <a:t>Many basic embedded systems need to read digital input signals and generate clear output responses. For example, a simple access-control panel may need to detect push-button inputs and display whether access is allowed, denied, or waiting for user action. This project introduces students to digital input/output interfacing using the ATmega32 microcontroller.</a:t>
            </a: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Objectives</a:t>
            </a:r>
          </a:p>
        </p:txBody>
      </p:sp>
      <p:sp>
        <p:nvSpPr>
          <p:cNvPr id="3" name="Content Placeholder 2"/>
          <p:cNvSpPr>
            <a:spLocks noGrp="1"/>
          </p:cNvSpPr>
          <p:nvPr>
            <p:ph idx="1"/>
          </p:nvPr>
        </p:nvSpPr>
        <p:spPr/>
        <p:txBody>
          <a:bodyPr/>
          <a:lstStyle/>
          <a:p>
            <a:pPr marL="0" indent="0">
              <a:buNone/>
              <a:defRPr sz="2400"/>
            </a:pPr>
            <a:r>
              <a:rPr lang="en-US" dirty="0"/>
              <a:t>To design and implement a simple digital access indicator system using ATmega32 GPIO pins, push buttons, LEDs, and a buzzer. </a:t>
            </a: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System Block Diagram</a:t>
            </a:r>
          </a:p>
        </p:txBody>
      </p:sp>
      <p:sp>
        <p:nvSpPr>
          <p:cNvPr id="3" name="Content Placeholder 2"/>
          <p:cNvSpPr>
            <a:spLocks noGrp="1"/>
          </p:cNvSpPr>
          <p:nvPr>
            <p:ph idx="1"/>
          </p:nvPr>
        </p:nvSpPr>
        <p:spPr/>
        <p:txBody>
          <a:bodyPr/>
          <a:lstStyle/>
          <a:p>
            <a:pPr marL="0" indent="0">
              <a:buNone/>
              <a:defRPr sz="2400"/>
            </a:pPr>
            <a:endParaRPr lang="en-US" dirty="0"/>
          </a:p>
          <a:p>
            <a:pPr marL="0" indent="0">
              <a:buNone/>
              <a:defRPr sz="2400"/>
            </a:pPr>
            <a:endParaRPr lang="en-US" dirty="0"/>
          </a:p>
          <a:p>
            <a:pPr marL="0" indent="0">
              <a:buNone/>
              <a:defRPr sz="2400"/>
            </a:pPr>
            <a:endParaRPr lang="en-US" dirty="0"/>
          </a:p>
          <a:p>
            <a:pPr marL="0" indent="0">
              <a:buNone/>
              <a:defRPr sz="2400"/>
            </a:pPr>
            <a:endParaRPr lang="en-US" dirty="0"/>
          </a:p>
          <a:p>
            <a:pPr marL="0" indent="0">
              <a:buNone/>
              <a:defRPr sz="2400"/>
            </a:pPr>
            <a:endParaRPr lang="en-US" dirty="0"/>
          </a:p>
          <a:p>
            <a:pPr marL="0" indent="0">
              <a:buNone/>
              <a:defRPr sz="2400"/>
            </a:pPr>
            <a:endParaRPr lang="en-US" dirty="0"/>
          </a:p>
          <a:p>
            <a:pPr marL="0" indent="0">
              <a:buNone/>
              <a:defRPr sz="2400"/>
            </a:pPr>
            <a:endParaRPr lang="en-US" dirty="0"/>
          </a:p>
          <a:p>
            <a:pPr marL="0" indent="0">
              <a:buNone/>
              <a:defRPr sz="2400"/>
            </a:pPr>
            <a:endParaRPr lang="en-US" dirty="0"/>
          </a:p>
          <a:p>
            <a:pPr marL="0" indent="0">
              <a:buNone/>
              <a:defRPr sz="2400"/>
            </a:pPr>
            <a:endParaRPr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27311" y="1600201"/>
            <a:ext cx="4434746" cy="4234542"/>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Firmware Flo</a:t>
            </a:r>
            <a:r>
              <a:rPr lang="en-US" dirty="0"/>
              <a:t>wchart:</a:t>
            </a:r>
            <a:endParaRPr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264228" y="1600200"/>
            <a:ext cx="4528457" cy="4394199"/>
          </a:xfr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Pin Mapping</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49007846"/>
              </p:ext>
            </p:extLst>
          </p:nvPr>
        </p:nvGraphicFramePr>
        <p:xfrm>
          <a:off x="1448973" y="1417639"/>
          <a:ext cx="6400799" cy="4420453"/>
        </p:xfrm>
        <a:graphic>
          <a:graphicData uri="http://schemas.openxmlformats.org/drawingml/2006/table">
            <a:tbl>
              <a:tblPr firstRow="1" firstCol="1" bandRow="1">
                <a:tableStyleId>{5C22544A-7EE6-4342-B048-85BDC9FD1C3A}</a:tableStyleId>
              </a:tblPr>
              <a:tblGrid>
                <a:gridCol w="1876342">
                  <a:extLst>
                    <a:ext uri="{9D8B030D-6E8A-4147-A177-3AD203B41FA5}">
                      <a16:colId xmlns:a16="http://schemas.microsoft.com/office/drawing/2014/main" val="3352013083"/>
                    </a:ext>
                  </a:extLst>
                </a:gridCol>
                <a:gridCol w="1765776">
                  <a:extLst>
                    <a:ext uri="{9D8B030D-6E8A-4147-A177-3AD203B41FA5}">
                      <a16:colId xmlns:a16="http://schemas.microsoft.com/office/drawing/2014/main" val="2909760371"/>
                    </a:ext>
                  </a:extLst>
                </a:gridCol>
                <a:gridCol w="2758681">
                  <a:extLst>
                    <a:ext uri="{9D8B030D-6E8A-4147-A177-3AD203B41FA5}">
                      <a16:colId xmlns:a16="http://schemas.microsoft.com/office/drawing/2014/main" val="1434051009"/>
                    </a:ext>
                  </a:extLst>
                </a:gridCol>
              </a:tblGrid>
              <a:tr h="561499">
                <a:tc>
                  <a:txBody>
                    <a:bodyPr/>
                    <a:lstStyle/>
                    <a:p>
                      <a:pPr marL="0" marR="0" indent="0" algn="just">
                        <a:lnSpc>
                          <a:spcPct val="107000"/>
                        </a:lnSpc>
                        <a:spcBef>
                          <a:spcPts val="0"/>
                        </a:spcBef>
                        <a:spcAft>
                          <a:spcPts val="0"/>
                        </a:spcAft>
                      </a:pPr>
                      <a:r>
                        <a:rPr lang="en-US" sz="2000">
                          <a:effectLst/>
                        </a:rPr>
                        <a:t>ATmega32 Pin </a:t>
                      </a:r>
                      <a:endParaRPr lang="en-US" sz="20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37465" marT="0" marB="0"/>
                </a:tc>
                <a:tc>
                  <a:txBody>
                    <a:bodyPr/>
                    <a:lstStyle/>
                    <a:p>
                      <a:pPr marL="0" marR="0" indent="0">
                        <a:lnSpc>
                          <a:spcPct val="107000"/>
                        </a:lnSpc>
                        <a:spcBef>
                          <a:spcPts val="0"/>
                        </a:spcBef>
                        <a:spcAft>
                          <a:spcPts val="0"/>
                        </a:spcAft>
                      </a:pPr>
                      <a:r>
                        <a:rPr lang="en-US" sz="2000">
                          <a:effectLst/>
                        </a:rPr>
                        <a:t>Function </a:t>
                      </a:r>
                      <a:endParaRPr lang="en-US" sz="20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37465" marT="0" marB="0"/>
                </a:tc>
                <a:tc>
                  <a:txBody>
                    <a:bodyPr/>
                    <a:lstStyle/>
                    <a:p>
                      <a:pPr marL="0" marR="0" indent="0">
                        <a:lnSpc>
                          <a:spcPct val="107000"/>
                        </a:lnSpc>
                        <a:spcBef>
                          <a:spcPts val="0"/>
                        </a:spcBef>
                        <a:spcAft>
                          <a:spcPts val="0"/>
                        </a:spcAft>
                      </a:pPr>
                      <a:r>
                        <a:rPr lang="en-US" sz="2000">
                          <a:effectLst/>
                        </a:rPr>
                        <a:t>Connected Device </a:t>
                      </a:r>
                      <a:endParaRPr lang="en-US" sz="20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37465" marT="0" marB="0"/>
                </a:tc>
                <a:extLst>
                  <a:ext uri="{0D108BD9-81ED-4DB2-BD59-A6C34878D82A}">
                    <a16:rowId xmlns:a16="http://schemas.microsoft.com/office/drawing/2014/main" val="2504916547"/>
                  </a:ext>
                </a:extLst>
              </a:tr>
              <a:tr h="545239">
                <a:tc>
                  <a:txBody>
                    <a:bodyPr/>
                    <a:lstStyle/>
                    <a:p>
                      <a:pPr marL="0" marR="0" indent="0">
                        <a:lnSpc>
                          <a:spcPct val="107000"/>
                        </a:lnSpc>
                        <a:spcBef>
                          <a:spcPts val="0"/>
                        </a:spcBef>
                        <a:spcAft>
                          <a:spcPts val="0"/>
                        </a:spcAft>
                      </a:pPr>
                      <a:r>
                        <a:rPr lang="en-US" sz="2000">
                          <a:effectLst/>
                        </a:rPr>
                        <a:t>PA0 </a:t>
                      </a:r>
                      <a:endParaRPr lang="en-US" sz="20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37465" marT="0" marB="0"/>
                </a:tc>
                <a:tc>
                  <a:txBody>
                    <a:bodyPr/>
                    <a:lstStyle/>
                    <a:p>
                      <a:pPr marL="0" marR="0" indent="0">
                        <a:lnSpc>
                          <a:spcPct val="107000"/>
                        </a:lnSpc>
                        <a:spcBef>
                          <a:spcPts val="0"/>
                        </a:spcBef>
                        <a:spcAft>
                          <a:spcPts val="0"/>
                        </a:spcAft>
                      </a:pPr>
                      <a:r>
                        <a:rPr lang="en-US" sz="2000">
                          <a:effectLst/>
                        </a:rPr>
                        <a:t>Digital input </a:t>
                      </a:r>
                      <a:endParaRPr lang="en-US" sz="20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37465" marT="0" marB="0"/>
                </a:tc>
                <a:tc>
                  <a:txBody>
                    <a:bodyPr/>
                    <a:lstStyle/>
                    <a:p>
                      <a:pPr marL="0" marR="0" indent="0">
                        <a:lnSpc>
                          <a:spcPct val="107000"/>
                        </a:lnSpc>
                        <a:spcBef>
                          <a:spcPts val="0"/>
                        </a:spcBef>
                        <a:spcAft>
                          <a:spcPts val="0"/>
                        </a:spcAft>
                      </a:pPr>
                      <a:r>
                        <a:rPr lang="en-US" sz="2000">
                          <a:effectLst/>
                        </a:rPr>
                        <a:t>Correct access button </a:t>
                      </a:r>
                      <a:endParaRPr lang="en-US" sz="20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37465" marT="0" marB="0"/>
                </a:tc>
                <a:extLst>
                  <a:ext uri="{0D108BD9-81ED-4DB2-BD59-A6C34878D82A}">
                    <a16:rowId xmlns:a16="http://schemas.microsoft.com/office/drawing/2014/main" val="1720088075"/>
                  </a:ext>
                </a:extLst>
              </a:tr>
              <a:tr h="553912">
                <a:tc>
                  <a:txBody>
                    <a:bodyPr/>
                    <a:lstStyle/>
                    <a:p>
                      <a:pPr marL="0" marR="0" indent="0">
                        <a:lnSpc>
                          <a:spcPct val="107000"/>
                        </a:lnSpc>
                        <a:spcBef>
                          <a:spcPts val="0"/>
                        </a:spcBef>
                        <a:spcAft>
                          <a:spcPts val="0"/>
                        </a:spcAft>
                      </a:pPr>
                      <a:r>
                        <a:rPr lang="en-US" sz="2000">
                          <a:effectLst/>
                        </a:rPr>
                        <a:t>PA1 </a:t>
                      </a:r>
                      <a:endParaRPr lang="en-US" sz="20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37465" marT="0" marB="0"/>
                </a:tc>
                <a:tc>
                  <a:txBody>
                    <a:bodyPr/>
                    <a:lstStyle/>
                    <a:p>
                      <a:pPr marL="0" marR="0" indent="0">
                        <a:lnSpc>
                          <a:spcPct val="107000"/>
                        </a:lnSpc>
                        <a:spcBef>
                          <a:spcPts val="0"/>
                        </a:spcBef>
                        <a:spcAft>
                          <a:spcPts val="0"/>
                        </a:spcAft>
                      </a:pPr>
                      <a:r>
                        <a:rPr lang="en-US" sz="2000">
                          <a:effectLst/>
                        </a:rPr>
                        <a:t>Digital input </a:t>
                      </a:r>
                      <a:endParaRPr lang="en-US" sz="20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37465" marT="0" marB="0"/>
                </a:tc>
                <a:tc>
                  <a:txBody>
                    <a:bodyPr/>
                    <a:lstStyle/>
                    <a:p>
                      <a:pPr marL="0" marR="0" indent="0">
                        <a:lnSpc>
                          <a:spcPct val="107000"/>
                        </a:lnSpc>
                        <a:spcBef>
                          <a:spcPts val="0"/>
                        </a:spcBef>
                        <a:spcAft>
                          <a:spcPts val="0"/>
                        </a:spcAft>
                      </a:pPr>
                      <a:r>
                        <a:rPr lang="en-US" sz="2000" dirty="0">
                          <a:effectLst/>
                        </a:rPr>
                        <a:t>Wrong access button </a:t>
                      </a:r>
                      <a:endParaRPr lang="en-US" sz="20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37465" marT="0" marB="0"/>
                </a:tc>
                <a:extLst>
                  <a:ext uri="{0D108BD9-81ED-4DB2-BD59-A6C34878D82A}">
                    <a16:rowId xmlns:a16="http://schemas.microsoft.com/office/drawing/2014/main" val="1633058780"/>
                  </a:ext>
                </a:extLst>
              </a:tr>
              <a:tr h="551744">
                <a:tc>
                  <a:txBody>
                    <a:bodyPr/>
                    <a:lstStyle/>
                    <a:p>
                      <a:pPr marL="0" marR="0" indent="0">
                        <a:lnSpc>
                          <a:spcPct val="107000"/>
                        </a:lnSpc>
                        <a:spcBef>
                          <a:spcPts val="0"/>
                        </a:spcBef>
                        <a:spcAft>
                          <a:spcPts val="0"/>
                        </a:spcAft>
                      </a:pPr>
                      <a:r>
                        <a:rPr lang="en-US" sz="2000">
                          <a:effectLst/>
                        </a:rPr>
                        <a:t>PA2 </a:t>
                      </a:r>
                      <a:endParaRPr lang="en-US" sz="20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37465" marT="0" marB="0"/>
                </a:tc>
                <a:tc>
                  <a:txBody>
                    <a:bodyPr/>
                    <a:lstStyle/>
                    <a:p>
                      <a:pPr marL="0" marR="0" indent="0">
                        <a:lnSpc>
                          <a:spcPct val="107000"/>
                        </a:lnSpc>
                        <a:spcBef>
                          <a:spcPts val="0"/>
                        </a:spcBef>
                        <a:spcAft>
                          <a:spcPts val="0"/>
                        </a:spcAft>
                      </a:pPr>
                      <a:r>
                        <a:rPr lang="en-US" sz="2000">
                          <a:effectLst/>
                        </a:rPr>
                        <a:t>Digital input </a:t>
                      </a:r>
                      <a:endParaRPr lang="en-US" sz="20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37465" marT="0" marB="0"/>
                </a:tc>
                <a:tc>
                  <a:txBody>
                    <a:bodyPr/>
                    <a:lstStyle/>
                    <a:p>
                      <a:pPr marL="0" marR="0" indent="0">
                        <a:lnSpc>
                          <a:spcPct val="107000"/>
                        </a:lnSpc>
                        <a:spcBef>
                          <a:spcPts val="0"/>
                        </a:spcBef>
                        <a:spcAft>
                          <a:spcPts val="0"/>
                        </a:spcAft>
                      </a:pPr>
                      <a:r>
                        <a:rPr lang="en-US" sz="2000">
                          <a:effectLst/>
                        </a:rPr>
                        <a:t>User reset button </a:t>
                      </a:r>
                      <a:endParaRPr lang="en-US" sz="20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37465" marT="0" marB="0"/>
                </a:tc>
                <a:extLst>
                  <a:ext uri="{0D108BD9-81ED-4DB2-BD59-A6C34878D82A}">
                    <a16:rowId xmlns:a16="http://schemas.microsoft.com/office/drawing/2014/main" val="2241561546"/>
                  </a:ext>
                </a:extLst>
              </a:tr>
              <a:tr h="553912">
                <a:tc>
                  <a:txBody>
                    <a:bodyPr/>
                    <a:lstStyle/>
                    <a:p>
                      <a:pPr marL="0" marR="0" indent="0">
                        <a:lnSpc>
                          <a:spcPct val="107000"/>
                        </a:lnSpc>
                        <a:spcBef>
                          <a:spcPts val="0"/>
                        </a:spcBef>
                        <a:spcAft>
                          <a:spcPts val="0"/>
                        </a:spcAft>
                      </a:pPr>
                      <a:r>
                        <a:rPr lang="en-US" sz="2000">
                          <a:effectLst/>
                        </a:rPr>
                        <a:t>PB0 </a:t>
                      </a:r>
                      <a:endParaRPr lang="en-US" sz="20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37465" marT="0" marB="0"/>
                </a:tc>
                <a:tc>
                  <a:txBody>
                    <a:bodyPr/>
                    <a:lstStyle/>
                    <a:p>
                      <a:pPr marL="0" marR="0" indent="0">
                        <a:lnSpc>
                          <a:spcPct val="107000"/>
                        </a:lnSpc>
                        <a:spcBef>
                          <a:spcPts val="0"/>
                        </a:spcBef>
                        <a:spcAft>
                          <a:spcPts val="0"/>
                        </a:spcAft>
                      </a:pPr>
                      <a:r>
                        <a:rPr lang="en-US" sz="2000">
                          <a:effectLst/>
                        </a:rPr>
                        <a:t>Digital output </a:t>
                      </a:r>
                      <a:endParaRPr lang="en-US" sz="20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37465" marT="0" marB="0"/>
                </a:tc>
                <a:tc>
                  <a:txBody>
                    <a:bodyPr/>
                    <a:lstStyle/>
                    <a:p>
                      <a:pPr marL="0" marR="0" indent="0">
                        <a:lnSpc>
                          <a:spcPct val="107000"/>
                        </a:lnSpc>
                        <a:spcBef>
                          <a:spcPts val="0"/>
                        </a:spcBef>
                        <a:spcAft>
                          <a:spcPts val="0"/>
                        </a:spcAft>
                      </a:pPr>
                      <a:r>
                        <a:rPr lang="en-US" sz="2000">
                          <a:effectLst/>
                        </a:rPr>
                        <a:t>Green LED </a:t>
                      </a:r>
                      <a:endParaRPr lang="en-US" sz="20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37465" marT="0" marB="0"/>
                </a:tc>
                <a:extLst>
                  <a:ext uri="{0D108BD9-81ED-4DB2-BD59-A6C34878D82A}">
                    <a16:rowId xmlns:a16="http://schemas.microsoft.com/office/drawing/2014/main" val="1778595761"/>
                  </a:ext>
                </a:extLst>
              </a:tr>
              <a:tr h="548492">
                <a:tc>
                  <a:txBody>
                    <a:bodyPr/>
                    <a:lstStyle/>
                    <a:p>
                      <a:pPr marL="0" marR="0" indent="0">
                        <a:lnSpc>
                          <a:spcPct val="107000"/>
                        </a:lnSpc>
                        <a:spcBef>
                          <a:spcPts val="0"/>
                        </a:spcBef>
                        <a:spcAft>
                          <a:spcPts val="0"/>
                        </a:spcAft>
                      </a:pPr>
                      <a:r>
                        <a:rPr lang="en-US" sz="2000">
                          <a:effectLst/>
                        </a:rPr>
                        <a:t>PB1 </a:t>
                      </a:r>
                      <a:endParaRPr lang="en-US" sz="20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37465" marT="0" marB="0"/>
                </a:tc>
                <a:tc>
                  <a:txBody>
                    <a:bodyPr/>
                    <a:lstStyle/>
                    <a:p>
                      <a:pPr marL="0" marR="0" indent="0">
                        <a:lnSpc>
                          <a:spcPct val="107000"/>
                        </a:lnSpc>
                        <a:spcBef>
                          <a:spcPts val="0"/>
                        </a:spcBef>
                        <a:spcAft>
                          <a:spcPts val="0"/>
                        </a:spcAft>
                      </a:pPr>
                      <a:r>
                        <a:rPr lang="en-US" sz="2000">
                          <a:effectLst/>
                        </a:rPr>
                        <a:t>Digital output </a:t>
                      </a:r>
                      <a:endParaRPr lang="en-US" sz="20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37465" marT="0" marB="0"/>
                </a:tc>
                <a:tc>
                  <a:txBody>
                    <a:bodyPr/>
                    <a:lstStyle/>
                    <a:p>
                      <a:pPr marL="0" marR="0" indent="0">
                        <a:lnSpc>
                          <a:spcPct val="107000"/>
                        </a:lnSpc>
                        <a:spcBef>
                          <a:spcPts val="0"/>
                        </a:spcBef>
                        <a:spcAft>
                          <a:spcPts val="0"/>
                        </a:spcAft>
                      </a:pPr>
                      <a:r>
                        <a:rPr lang="en-US" sz="2000">
                          <a:effectLst/>
                        </a:rPr>
                        <a:t>Red LED </a:t>
                      </a:r>
                      <a:endParaRPr lang="en-US" sz="20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37465" marT="0" marB="0"/>
                </a:tc>
                <a:extLst>
                  <a:ext uri="{0D108BD9-81ED-4DB2-BD59-A6C34878D82A}">
                    <a16:rowId xmlns:a16="http://schemas.microsoft.com/office/drawing/2014/main" val="1119727521"/>
                  </a:ext>
                </a:extLst>
              </a:tr>
              <a:tr h="554996">
                <a:tc>
                  <a:txBody>
                    <a:bodyPr/>
                    <a:lstStyle/>
                    <a:p>
                      <a:pPr marL="0" marR="0" indent="0">
                        <a:lnSpc>
                          <a:spcPct val="107000"/>
                        </a:lnSpc>
                        <a:spcBef>
                          <a:spcPts val="0"/>
                        </a:spcBef>
                        <a:spcAft>
                          <a:spcPts val="0"/>
                        </a:spcAft>
                      </a:pPr>
                      <a:r>
                        <a:rPr lang="en-US" sz="2000">
                          <a:effectLst/>
                        </a:rPr>
                        <a:t>PB2 </a:t>
                      </a:r>
                      <a:endParaRPr lang="en-US" sz="20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37465" marT="0" marB="0"/>
                </a:tc>
                <a:tc>
                  <a:txBody>
                    <a:bodyPr/>
                    <a:lstStyle/>
                    <a:p>
                      <a:pPr marL="0" marR="0" indent="0">
                        <a:lnSpc>
                          <a:spcPct val="107000"/>
                        </a:lnSpc>
                        <a:spcBef>
                          <a:spcPts val="0"/>
                        </a:spcBef>
                        <a:spcAft>
                          <a:spcPts val="0"/>
                        </a:spcAft>
                      </a:pPr>
                      <a:r>
                        <a:rPr lang="en-US" sz="2000">
                          <a:effectLst/>
                        </a:rPr>
                        <a:t>Digital output </a:t>
                      </a:r>
                      <a:endParaRPr lang="en-US" sz="20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37465" marT="0" marB="0"/>
                </a:tc>
                <a:tc>
                  <a:txBody>
                    <a:bodyPr/>
                    <a:lstStyle/>
                    <a:p>
                      <a:pPr marL="0" marR="0" indent="0">
                        <a:lnSpc>
                          <a:spcPct val="107000"/>
                        </a:lnSpc>
                        <a:spcBef>
                          <a:spcPts val="0"/>
                        </a:spcBef>
                        <a:spcAft>
                          <a:spcPts val="0"/>
                        </a:spcAft>
                      </a:pPr>
                      <a:r>
                        <a:rPr lang="en-US" sz="2000">
                          <a:effectLst/>
                        </a:rPr>
                        <a:t>Yellow LED </a:t>
                      </a:r>
                      <a:endParaRPr lang="en-US" sz="20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37465" marT="0" marB="0"/>
                </a:tc>
                <a:extLst>
                  <a:ext uri="{0D108BD9-81ED-4DB2-BD59-A6C34878D82A}">
                    <a16:rowId xmlns:a16="http://schemas.microsoft.com/office/drawing/2014/main" val="4078183759"/>
                  </a:ext>
                </a:extLst>
              </a:tr>
              <a:tr h="550659">
                <a:tc>
                  <a:txBody>
                    <a:bodyPr/>
                    <a:lstStyle/>
                    <a:p>
                      <a:pPr marL="0" marR="0" indent="0">
                        <a:lnSpc>
                          <a:spcPct val="107000"/>
                        </a:lnSpc>
                        <a:spcBef>
                          <a:spcPts val="0"/>
                        </a:spcBef>
                        <a:spcAft>
                          <a:spcPts val="0"/>
                        </a:spcAft>
                      </a:pPr>
                      <a:r>
                        <a:rPr lang="en-US" sz="2000">
                          <a:effectLst/>
                        </a:rPr>
                        <a:t>PB3 </a:t>
                      </a:r>
                      <a:endParaRPr lang="en-US" sz="20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37465" marT="0" marB="0"/>
                </a:tc>
                <a:tc>
                  <a:txBody>
                    <a:bodyPr/>
                    <a:lstStyle/>
                    <a:p>
                      <a:pPr marL="0" marR="0" indent="0">
                        <a:lnSpc>
                          <a:spcPct val="107000"/>
                        </a:lnSpc>
                        <a:spcBef>
                          <a:spcPts val="0"/>
                        </a:spcBef>
                        <a:spcAft>
                          <a:spcPts val="0"/>
                        </a:spcAft>
                      </a:pPr>
                      <a:r>
                        <a:rPr lang="en-US" sz="2000">
                          <a:effectLst/>
                        </a:rPr>
                        <a:t>Digital output </a:t>
                      </a:r>
                      <a:endParaRPr lang="en-US" sz="20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37465" marT="0" marB="0"/>
                </a:tc>
                <a:tc>
                  <a:txBody>
                    <a:bodyPr/>
                    <a:lstStyle/>
                    <a:p>
                      <a:pPr marL="0" marR="0" indent="0">
                        <a:lnSpc>
                          <a:spcPct val="107000"/>
                        </a:lnSpc>
                        <a:spcBef>
                          <a:spcPts val="0"/>
                        </a:spcBef>
                        <a:spcAft>
                          <a:spcPts val="0"/>
                        </a:spcAft>
                      </a:pPr>
                      <a:r>
                        <a:rPr lang="en-US" sz="2000" dirty="0">
                          <a:effectLst/>
                        </a:rPr>
                        <a:t>Buzzer </a:t>
                      </a:r>
                      <a:endParaRPr lang="en-US" sz="20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37465" marT="0" marB="0"/>
                </a:tc>
                <a:extLst>
                  <a:ext uri="{0D108BD9-81ED-4DB2-BD59-A6C34878D82A}">
                    <a16:rowId xmlns:a16="http://schemas.microsoft.com/office/drawing/2014/main" val="735773174"/>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System Operation</a:t>
            </a:r>
          </a:p>
        </p:txBody>
      </p:sp>
      <p:sp>
        <p:nvSpPr>
          <p:cNvPr id="3" name="Content Placeholder 2"/>
          <p:cNvSpPr>
            <a:spLocks noGrp="1"/>
          </p:cNvSpPr>
          <p:nvPr>
            <p:ph idx="1"/>
          </p:nvPr>
        </p:nvSpPr>
        <p:spPr/>
        <p:txBody>
          <a:bodyPr/>
          <a:lstStyle/>
          <a:p>
            <a:pPr>
              <a:defRPr sz="2400"/>
            </a:pPr>
            <a:r>
              <a:rPr dirty="0"/>
              <a:t>Standby</a:t>
            </a:r>
            <a:r>
              <a:rPr lang="en-US" dirty="0"/>
              <a:t> Mode</a:t>
            </a:r>
            <a:r>
              <a:rPr dirty="0"/>
              <a:t>: Yellow LED</a:t>
            </a:r>
            <a:r>
              <a:rPr lang="en-US" dirty="0"/>
              <a:t> ON</a:t>
            </a:r>
          </a:p>
          <a:p>
            <a:pPr>
              <a:defRPr sz="2400"/>
            </a:pPr>
            <a:r>
              <a:rPr dirty="0"/>
              <a:t>Correct</a:t>
            </a:r>
            <a:r>
              <a:rPr lang="en-US" dirty="0"/>
              <a:t> button press</a:t>
            </a:r>
            <a:r>
              <a:rPr dirty="0"/>
              <a:t>: Green </a:t>
            </a:r>
            <a:r>
              <a:rPr lang="en-US" dirty="0"/>
              <a:t>LED ON and </a:t>
            </a:r>
            <a:r>
              <a:rPr dirty="0"/>
              <a:t>short</a:t>
            </a:r>
            <a:r>
              <a:rPr lang="en-US" dirty="0"/>
              <a:t> buzzer</a:t>
            </a:r>
            <a:r>
              <a:rPr dirty="0"/>
              <a:t> beep</a:t>
            </a:r>
            <a:endParaRPr lang="en-US" dirty="0"/>
          </a:p>
          <a:p>
            <a:pPr>
              <a:defRPr sz="2400"/>
            </a:pPr>
            <a:r>
              <a:rPr dirty="0"/>
              <a:t>Wrong</a:t>
            </a:r>
            <a:r>
              <a:rPr lang="en-US" dirty="0"/>
              <a:t> button press</a:t>
            </a:r>
            <a:r>
              <a:rPr dirty="0"/>
              <a:t>: Red</a:t>
            </a:r>
            <a:r>
              <a:rPr lang="en-US" dirty="0"/>
              <a:t> LED ON</a:t>
            </a:r>
            <a:r>
              <a:rPr dirty="0"/>
              <a:t> </a:t>
            </a:r>
            <a:r>
              <a:rPr lang="en-US" dirty="0"/>
              <a:t>and</a:t>
            </a:r>
            <a:r>
              <a:rPr dirty="0"/>
              <a:t> long</a:t>
            </a:r>
            <a:r>
              <a:rPr lang="en-US" dirty="0"/>
              <a:t> buzzer</a:t>
            </a:r>
            <a:r>
              <a:rPr dirty="0"/>
              <a:t> beep</a:t>
            </a:r>
            <a:endParaRPr lang="en-US" dirty="0"/>
          </a:p>
          <a:p>
            <a:pPr>
              <a:defRPr sz="2400"/>
            </a:pPr>
            <a:r>
              <a:rPr dirty="0"/>
              <a:t>Reset</a:t>
            </a:r>
            <a:r>
              <a:rPr lang="en-US" dirty="0"/>
              <a:t> button press</a:t>
            </a:r>
            <a:r>
              <a:rPr dirty="0"/>
              <a:t>: Return standby</a:t>
            </a:r>
            <a:r>
              <a:rPr lang="en-US" dirty="0"/>
              <a:t> mode</a:t>
            </a:r>
            <a:endParaRPr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13153"/>
          </a:xfrm>
        </p:spPr>
        <p:txBody>
          <a:bodyPr>
            <a:normAutofit fontScale="90000"/>
          </a:bodyPr>
          <a:lstStyle/>
          <a:p>
            <a:r>
              <a:rPr lang="en-US" dirty="0" err="1"/>
              <a:t>Kicad</a:t>
            </a:r>
            <a:r>
              <a:rPr lang="en-US" dirty="0"/>
              <a:t> schematic</a:t>
            </a:r>
          </a:p>
        </p:txBody>
      </p:sp>
      <p:pic>
        <p:nvPicPr>
          <p:cNvPr id="8" name="Content Placeholder 7"/>
          <p:cNvPicPr>
            <a:picLocks noGrp="1" noChangeAspect="1"/>
          </p:cNvPicPr>
          <p:nvPr>
            <p:ph idx="1"/>
          </p:nvPr>
        </p:nvPicPr>
        <p:blipFill>
          <a:blip r:embed="rId2"/>
          <a:stretch>
            <a:fillRect/>
          </a:stretch>
        </p:blipFill>
        <p:spPr>
          <a:xfrm>
            <a:off x="1122218" y="965366"/>
            <a:ext cx="6705600" cy="5632704"/>
          </a:xfrm>
          <a:prstGeom prst="rect">
            <a:avLst/>
          </a:prstGeom>
        </p:spPr>
      </p:pic>
    </p:spTree>
    <p:extLst>
      <p:ext uri="{BB962C8B-B14F-4D97-AF65-F5344CB8AC3E}">
        <p14:creationId xmlns:p14="http://schemas.microsoft.com/office/powerpoint/2010/main" val="9679672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Kicad</a:t>
            </a:r>
            <a:r>
              <a:rPr lang="en-US" dirty="0"/>
              <a:t> PCB layout</a:t>
            </a:r>
          </a:p>
        </p:txBody>
      </p:sp>
      <p:pic>
        <p:nvPicPr>
          <p:cNvPr id="4" name="Content Placeholder 3"/>
          <p:cNvPicPr>
            <a:picLocks noGrp="1" noChangeAspect="1"/>
          </p:cNvPicPr>
          <p:nvPr>
            <p:ph idx="1"/>
          </p:nvPr>
        </p:nvPicPr>
        <p:blipFill>
          <a:blip r:embed="rId2"/>
          <a:stretch>
            <a:fillRect/>
          </a:stretch>
        </p:blipFill>
        <p:spPr>
          <a:xfrm>
            <a:off x="972458" y="1417638"/>
            <a:ext cx="7358742" cy="5140210"/>
          </a:xfrm>
          <a:prstGeom prst="rect">
            <a:avLst/>
          </a:prstGeom>
        </p:spPr>
      </p:pic>
    </p:spTree>
    <p:extLst>
      <p:ext uri="{BB962C8B-B14F-4D97-AF65-F5344CB8AC3E}">
        <p14:creationId xmlns:p14="http://schemas.microsoft.com/office/powerpoint/2010/main" val="29328679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PCB 3D view:</a:t>
            </a:r>
          </a:p>
        </p:txBody>
      </p:sp>
      <p:pic>
        <p:nvPicPr>
          <p:cNvPr id="4" name="Content Placeholder 3"/>
          <p:cNvPicPr>
            <a:picLocks noGrp="1" noChangeAspect="1"/>
          </p:cNvPicPr>
          <p:nvPr>
            <p:ph idx="1"/>
          </p:nvPr>
        </p:nvPicPr>
        <p:blipFill>
          <a:blip r:embed="rId2"/>
          <a:stretch>
            <a:fillRect/>
          </a:stretch>
        </p:blipFill>
        <p:spPr>
          <a:xfrm>
            <a:off x="580571" y="1595269"/>
            <a:ext cx="8106229" cy="4747473"/>
          </a:xfrm>
          <a:prstGeom prst="rect">
            <a:avLst/>
          </a:prstGeom>
        </p:spPr>
      </p:pic>
    </p:spTree>
    <p:extLst>
      <p:ext uri="{BB962C8B-B14F-4D97-AF65-F5344CB8AC3E}">
        <p14:creationId xmlns:p14="http://schemas.microsoft.com/office/powerpoint/2010/main" val="26113948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98198"/>
          </a:xfrm>
        </p:spPr>
        <p:txBody>
          <a:bodyPr>
            <a:normAutofit fontScale="90000"/>
          </a:bodyPr>
          <a:lstStyle/>
          <a:p>
            <a:r>
              <a:rPr lang="en-US" dirty="0"/>
              <a:t>Firmware Development Process</a:t>
            </a:r>
          </a:p>
        </p:txBody>
      </p:sp>
      <p:sp>
        <p:nvSpPr>
          <p:cNvPr id="3" name="Content Placeholder 2"/>
          <p:cNvSpPr>
            <a:spLocks noGrp="1"/>
          </p:cNvSpPr>
          <p:nvPr>
            <p:ph idx="1"/>
          </p:nvPr>
        </p:nvSpPr>
        <p:spPr>
          <a:xfrm>
            <a:off x="457200" y="872836"/>
            <a:ext cx="8229600" cy="5389419"/>
          </a:xfrm>
        </p:spPr>
        <p:txBody>
          <a:bodyPr>
            <a:normAutofit lnSpcReduction="10000"/>
          </a:bodyPr>
          <a:lstStyle/>
          <a:p>
            <a:pPr marL="0" lvl="0" indent="0" defTabSz="914400" eaLnBrk="0" fontAlgn="base" hangingPunct="0">
              <a:spcBef>
                <a:spcPct val="0"/>
              </a:spcBef>
              <a:spcAft>
                <a:spcPct val="0"/>
              </a:spcAft>
              <a:buFontTx/>
              <a:buChar char="•"/>
            </a:pPr>
            <a:r>
              <a:rPr lang="en-US" altLang="en-US" sz="2200" dirty="0">
                <a:latin typeface="Times New Roman" panose="02020603050405020304" pitchFamily="18" charset="0"/>
                <a:cs typeface="Times New Roman" panose="02020603050405020304" pitchFamily="18" charset="0"/>
              </a:rPr>
              <a:t>The application firmware was developed in </a:t>
            </a:r>
            <a:r>
              <a:rPr lang="en-US" altLang="en-US" sz="2200" b="1" dirty="0">
                <a:latin typeface="Times New Roman" panose="02020603050405020304" pitchFamily="18" charset="0"/>
                <a:cs typeface="Times New Roman" panose="02020603050405020304" pitchFamily="18" charset="0"/>
              </a:rPr>
              <a:t>C language</a:t>
            </a:r>
            <a:r>
              <a:rPr lang="en-US" altLang="en-US" sz="2200" dirty="0">
                <a:latin typeface="Times New Roman" panose="02020603050405020304" pitchFamily="18" charset="0"/>
                <a:cs typeface="Times New Roman" panose="02020603050405020304" pitchFamily="18" charset="0"/>
              </a:rPr>
              <a:t> for the </a:t>
            </a:r>
            <a:r>
              <a:rPr lang="en-US" altLang="en-US" sz="2200" b="1" dirty="0">
                <a:latin typeface="Times New Roman" panose="02020603050405020304" pitchFamily="18" charset="0"/>
                <a:cs typeface="Times New Roman" panose="02020603050405020304" pitchFamily="18" charset="0"/>
              </a:rPr>
              <a:t>ATmega32 microcontroller</a:t>
            </a:r>
            <a:r>
              <a:rPr lang="en-US" altLang="en-US" sz="2200" dirty="0">
                <a:latin typeface="Times New Roman" panose="02020603050405020304" pitchFamily="18" charset="0"/>
                <a:cs typeface="Times New Roman" panose="02020603050405020304" pitchFamily="18" charset="0"/>
              </a:rPr>
              <a:t>. </a:t>
            </a:r>
          </a:p>
          <a:p>
            <a:pPr marL="0" lvl="0" indent="0" defTabSz="914400" eaLnBrk="0" fontAlgn="base" hangingPunct="0">
              <a:spcBef>
                <a:spcPct val="0"/>
              </a:spcBef>
              <a:spcAft>
                <a:spcPct val="0"/>
              </a:spcAft>
              <a:buFontTx/>
              <a:buChar char="•"/>
            </a:pPr>
            <a:r>
              <a:rPr lang="en-US" altLang="en-US" sz="2200" dirty="0">
                <a:latin typeface="Times New Roman" panose="02020603050405020304" pitchFamily="18" charset="0"/>
                <a:cs typeface="Times New Roman" panose="02020603050405020304" pitchFamily="18" charset="0"/>
              </a:rPr>
              <a:t>The program implements the access control logic, including: </a:t>
            </a:r>
          </a:p>
          <a:p>
            <a:pPr marL="914400" lvl="1" indent="-514350" defTabSz="914400" eaLnBrk="0" fontAlgn="base" hangingPunct="0">
              <a:spcBef>
                <a:spcPct val="0"/>
              </a:spcBef>
              <a:spcAft>
                <a:spcPct val="0"/>
              </a:spcAft>
              <a:buFont typeface="+mj-lt"/>
              <a:buAutoNum type="romanLcPeriod"/>
            </a:pPr>
            <a:r>
              <a:rPr lang="en-US" altLang="en-US" sz="2200" dirty="0">
                <a:latin typeface="Times New Roman" panose="02020603050405020304" pitchFamily="18" charset="0"/>
                <a:cs typeface="Times New Roman" panose="02020603050405020304" pitchFamily="18" charset="0"/>
              </a:rPr>
              <a:t>Reading the push-button inputs. </a:t>
            </a:r>
          </a:p>
          <a:p>
            <a:pPr marL="914400" lvl="1" indent="-514350" defTabSz="914400" eaLnBrk="0" fontAlgn="base" hangingPunct="0">
              <a:spcBef>
                <a:spcPct val="0"/>
              </a:spcBef>
              <a:spcAft>
                <a:spcPct val="0"/>
              </a:spcAft>
              <a:buFont typeface="+mj-lt"/>
              <a:buAutoNum type="romanLcPeriod"/>
            </a:pPr>
            <a:r>
              <a:rPr lang="en-US" altLang="en-US" sz="2200" dirty="0">
                <a:latin typeface="Times New Roman" panose="02020603050405020304" pitchFamily="18" charset="0"/>
                <a:cs typeface="Times New Roman" panose="02020603050405020304" pitchFamily="18" charset="0"/>
              </a:rPr>
              <a:t>Validating user actions. </a:t>
            </a:r>
          </a:p>
          <a:p>
            <a:pPr marL="914400" lvl="1" indent="-514350" defTabSz="914400" eaLnBrk="0" fontAlgn="base" hangingPunct="0">
              <a:spcBef>
                <a:spcPct val="0"/>
              </a:spcBef>
              <a:spcAft>
                <a:spcPct val="0"/>
              </a:spcAft>
              <a:buFont typeface="+mj-lt"/>
              <a:buAutoNum type="romanLcPeriod"/>
            </a:pPr>
            <a:r>
              <a:rPr lang="en-US" altLang="en-US" sz="2200" dirty="0">
                <a:latin typeface="Times New Roman" panose="02020603050405020304" pitchFamily="18" charset="0"/>
                <a:cs typeface="Times New Roman" panose="02020603050405020304" pitchFamily="18" charset="0"/>
              </a:rPr>
              <a:t>Controlling the Red, Green, and Yellow LEDs. </a:t>
            </a:r>
          </a:p>
          <a:p>
            <a:pPr marL="914400" lvl="1" indent="-514350" defTabSz="914400" eaLnBrk="0" fontAlgn="base" hangingPunct="0">
              <a:spcBef>
                <a:spcPct val="0"/>
              </a:spcBef>
              <a:spcAft>
                <a:spcPct val="0"/>
              </a:spcAft>
              <a:buFont typeface="+mj-lt"/>
              <a:buAutoNum type="romanLcPeriod"/>
            </a:pPr>
            <a:r>
              <a:rPr lang="en-US" altLang="en-US" sz="2200" dirty="0">
                <a:latin typeface="Times New Roman" panose="02020603050405020304" pitchFamily="18" charset="0"/>
                <a:cs typeface="Times New Roman" panose="02020603050405020304" pitchFamily="18" charset="0"/>
              </a:rPr>
              <a:t>Activating the buzzer during invalid access attempts. </a:t>
            </a:r>
          </a:p>
          <a:p>
            <a:pPr marL="0" lvl="0" indent="0" defTabSz="914400" eaLnBrk="0" fontAlgn="base" hangingPunct="0">
              <a:spcBef>
                <a:spcPct val="0"/>
              </a:spcBef>
              <a:spcAft>
                <a:spcPct val="0"/>
              </a:spcAft>
              <a:buFontTx/>
              <a:buChar char="•"/>
            </a:pPr>
            <a:r>
              <a:rPr lang="en-US" altLang="en-US" sz="2200" dirty="0">
                <a:latin typeface="Times New Roman" panose="02020603050405020304" pitchFamily="18" charset="0"/>
                <a:cs typeface="Times New Roman" panose="02020603050405020304" pitchFamily="18" charset="0"/>
              </a:rPr>
              <a:t>The source code was written and compiled using </a:t>
            </a:r>
            <a:r>
              <a:rPr lang="en-US" altLang="en-US" sz="2200" b="1" dirty="0">
                <a:latin typeface="Times New Roman" panose="02020603050405020304" pitchFamily="18" charset="0"/>
                <a:cs typeface="Times New Roman" panose="02020603050405020304" pitchFamily="18" charset="0"/>
              </a:rPr>
              <a:t>MPLAB for VS Code.</a:t>
            </a:r>
            <a:endParaRPr lang="en-US" altLang="en-US" sz="2200" dirty="0">
              <a:latin typeface="Times New Roman" panose="02020603050405020304" pitchFamily="18" charset="0"/>
              <a:cs typeface="Times New Roman" panose="02020603050405020304" pitchFamily="18" charset="0"/>
            </a:endParaRPr>
          </a:p>
          <a:p>
            <a:pPr marL="0" indent="0">
              <a:buNone/>
            </a:pPr>
            <a:r>
              <a:rPr lang="en-US" sz="2200" b="1" dirty="0">
                <a:latin typeface="Times New Roman" panose="02020603050405020304" pitchFamily="18" charset="0"/>
                <a:cs typeface="Times New Roman" panose="02020603050405020304" pitchFamily="18" charset="0"/>
              </a:rPr>
              <a:t> HEX File Generation</a:t>
            </a:r>
          </a:p>
          <a:p>
            <a:r>
              <a:rPr lang="en-US" sz="2200" dirty="0">
                <a:latin typeface="Times New Roman" panose="02020603050405020304" pitchFamily="18" charset="0"/>
                <a:cs typeface="Times New Roman" panose="02020603050405020304" pitchFamily="18" charset="0"/>
              </a:rPr>
              <a:t>After successful compilation, the compiler generated a </a:t>
            </a:r>
            <a:r>
              <a:rPr lang="en-US" sz="2200" b="1" dirty="0">
                <a:latin typeface="Times New Roman" panose="02020603050405020304" pitchFamily="18" charset="0"/>
                <a:cs typeface="Times New Roman" panose="02020603050405020304" pitchFamily="18" charset="0"/>
              </a:rPr>
              <a:t>HEX (.hex) file</a:t>
            </a:r>
            <a:r>
              <a:rPr lang="en-US" sz="2200" dirty="0">
                <a:latin typeface="Times New Roman" panose="02020603050405020304" pitchFamily="18" charset="0"/>
                <a:cs typeface="Times New Roman" panose="02020603050405020304" pitchFamily="18" charset="0"/>
              </a:rPr>
              <a:t>. </a:t>
            </a:r>
          </a:p>
          <a:p>
            <a:r>
              <a:rPr lang="en-US" sz="2200" dirty="0">
                <a:latin typeface="Times New Roman" panose="02020603050405020304" pitchFamily="18" charset="0"/>
                <a:cs typeface="Times New Roman" panose="02020603050405020304" pitchFamily="18" charset="0"/>
              </a:rPr>
              <a:t>The HEX file contains the machine code that can be executed directly by the ATmega32 microcontroller. </a:t>
            </a:r>
          </a:p>
          <a:p>
            <a:r>
              <a:rPr lang="en-US" sz="2200" dirty="0">
                <a:latin typeface="Times New Roman" panose="02020603050405020304" pitchFamily="18" charset="0"/>
                <a:cs typeface="Times New Roman" panose="02020603050405020304" pitchFamily="18" charset="0"/>
              </a:rPr>
              <a:t>This generated HEX file was loaded into the ATmega32 in </a:t>
            </a:r>
            <a:r>
              <a:rPr lang="en-US" sz="2200" b="1" dirty="0" err="1">
                <a:latin typeface="Times New Roman" panose="02020603050405020304" pitchFamily="18" charset="0"/>
                <a:cs typeface="Times New Roman" panose="02020603050405020304" pitchFamily="18" charset="0"/>
              </a:rPr>
              <a:t>SimulIDE</a:t>
            </a:r>
            <a:r>
              <a:rPr lang="en-US" sz="2200" dirty="0">
                <a:latin typeface="Times New Roman" panose="02020603050405020304" pitchFamily="18" charset="0"/>
                <a:cs typeface="Times New Roman" panose="02020603050405020304" pitchFamily="18" charset="0"/>
              </a:rPr>
              <a:t> to simulate the complete access control system.</a:t>
            </a:r>
          </a:p>
          <a:p>
            <a:pPr marL="0" indent="0">
              <a:buNone/>
            </a:pPr>
            <a:endParaRPr lang="en-US" dirty="0"/>
          </a:p>
        </p:txBody>
      </p:sp>
    </p:spTree>
    <p:extLst>
      <p:ext uri="{BB962C8B-B14F-4D97-AF65-F5344CB8AC3E}">
        <p14:creationId xmlns:p14="http://schemas.microsoft.com/office/powerpoint/2010/main" val="12910554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US" dirty="0"/>
              <a:t>Simulation:</a:t>
            </a:r>
            <a:br>
              <a:rPr lang="en-US" dirty="0"/>
            </a:br>
            <a:r>
              <a:rPr lang="en-US" dirty="0" err="1"/>
              <a:t>SimulIde</a:t>
            </a:r>
            <a:r>
              <a:rPr lang="en-US" dirty="0"/>
              <a:t> working simulation</a:t>
            </a:r>
          </a:p>
        </p:txBody>
      </p:sp>
      <p:pic>
        <p:nvPicPr>
          <p:cNvPr id="4" name="Content Placeholder 3"/>
          <p:cNvPicPr>
            <a:picLocks noGrp="1" noChangeAspect="1"/>
          </p:cNvPicPr>
          <p:nvPr>
            <p:ph idx="1"/>
          </p:nvPr>
        </p:nvPicPr>
        <p:blipFill>
          <a:blip r:embed="rId2"/>
          <a:stretch>
            <a:fillRect/>
          </a:stretch>
        </p:blipFill>
        <p:spPr>
          <a:xfrm>
            <a:off x="1001487" y="1565564"/>
            <a:ext cx="6589484" cy="4994894"/>
          </a:xfrm>
          <a:prstGeom prst="rect">
            <a:avLst/>
          </a:prstGeom>
        </p:spPr>
      </p:pic>
    </p:spTree>
    <p:extLst>
      <p:ext uri="{BB962C8B-B14F-4D97-AF65-F5344CB8AC3E}">
        <p14:creationId xmlns:p14="http://schemas.microsoft.com/office/powerpoint/2010/main" val="22536932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US" dirty="0"/>
              <a:t>Running simulation (standby mode):</a:t>
            </a:r>
            <a:br>
              <a:rPr lang="en-US" dirty="0"/>
            </a:br>
            <a:r>
              <a:rPr lang="en-US" sz="3600" dirty="0"/>
              <a:t>only yellow LED is ON</a:t>
            </a:r>
          </a:p>
        </p:txBody>
      </p:sp>
      <p:pic>
        <p:nvPicPr>
          <p:cNvPr id="4" name="Content Placeholder 3"/>
          <p:cNvPicPr>
            <a:picLocks noGrp="1" noChangeAspect="1"/>
          </p:cNvPicPr>
          <p:nvPr>
            <p:ph idx="1"/>
          </p:nvPr>
        </p:nvPicPr>
        <p:blipFill>
          <a:blip r:embed="rId2"/>
          <a:stretch>
            <a:fillRect/>
          </a:stretch>
        </p:blipFill>
        <p:spPr>
          <a:xfrm>
            <a:off x="1973944" y="1669597"/>
            <a:ext cx="5457370" cy="4615089"/>
          </a:xfrm>
          <a:prstGeom prst="rect">
            <a:avLst/>
          </a:prstGeom>
        </p:spPr>
      </p:pic>
    </p:spTree>
    <p:extLst>
      <p:ext uri="{BB962C8B-B14F-4D97-AF65-F5344CB8AC3E}">
        <p14:creationId xmlns:p14="http://schemas.microsoft.com/office/powerpoint/2010/main" val="5561982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US" dirty="0"/>
              <a:t>Correct button press:</a:t>
            </a:r>
            <a:br>
              <a:rPr lang="en-US" dirty="0"/>
            </a:br>
            <a:r>
              <a:rPr lang="en-US" sz="3600" dirty="0"/>
              <a:t>Green LED turn ON and short buzzer beep. </a:t>
            </a:r>
          </a:p>
        </p:txBody>
      </p:sp>
      <p:pic>
        <p:nvPicPr>
          <p:cNvPr id="4" name="Content Placeholder 3"/>
          <p:cNvPicPr>
            <a:picLocks noGrp="1" noChangeAspect="1"/>
          </p:cNvPicPr>
          <p:nvPr>
            <p:ph idx="1"/>
          </p:nvPr>
        </p:nvPicPr>
        <p:blipFill>
          <a:blip r:embed="rId2"/>
          <a:stretch>
            <a:fillRect/>
          </a:stretch>
        </p:blipFill>
        <p:spPr>
          <a:xfrm>
            <a:off x="1872343" y="1600200"/>
            <a:ext cx="5283200" cy="4844143"/>
          </a:xfrm>
          <a:prstGeom prst="rect">
            <a:avLst/>
          </a:prstGeom>
        </p:spPr>
      </p:pic>
    </p:spTree>
    <p:extLst>
      <p:ext uri="{BB962C8B-B14F-4D97-AF65-F5344CB8AC3E}">
        <p14:creationId xmlns:p14="http://schemas.microsoft.com/office/powerpoint/2010/main" val="7937828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US" dirty="0"/>
              <a:t>Wrong button press:</a:t>
            </a:r>
            <a:br>
              <a:rPr lang="en-US" dirty="0"/>
            </a:br>
            <a:r>
              <a:rPr lang="en-US" sz="3600" dirty="0"/>
              <a:t>Red LED turn ON and long buzzer beep.</a:t>
            </a:r>
          </a:p>
        </p:txBody>
      </p:sp>
      <p:pic>
        <p:nvPicPr>
          <p:cNvPr id="4" name="Content Placeholder 3"/>
          <p:cNvPicPr>
            <a:picLocks noGrp="1" noChangeAspect="1"/>
          </p:cNvPicPr>
          <p:nvPr>
            <p:ph idx="1"/>
          </p:nvPr>
        </p:nvPicPr>
        <p:blipFill>
          <a:blip r:embed="rId2"/>
          <a:stretch>
            <a:fillRect/>
          </a:stretch>
        </p:blipFill>
        <p:spPr>
          <a:xfrm>
            <a:off x="1567542" y="1600200"/>
            <a:ext cx="5239657" cy="4525963"/>
          </a:xfrm>
          <a:prstGeom prst="rect">
            <a:avLst/>
          </a:prstGeom>
        </p:spPr>
      </p:pic>
    </p:spTree>
    <p:extLst>
      <p:ext uri="{BB962C8B-B14F-4D97-AF65-F5344CB8AC3E}">
        <p14:creationId xmlns:p14="http://schemas.microsoft.com/office/powerpoint/2010/main" val="30366447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US" sz="4000" dirty="0"/>
              <a:t>Complete Simulation with reset button operation</a:t>
            </a:r>
            <a:r>
              <a:rPr lang="en-US" dirty="0"/>
              <a:t>:</a:t>
            </a:r>
          </a:p>
        </p:txBody>
      </p:sp>
      <p:pic>
        <p:nvPicPr>
          <p:cNvPr id="4" name="20260630-2103-09.7069490">
            <a:hlinkClick r:id="" action="ppaction://media"/>
          </p:cNvPr>
          <p:cNvPicPr>
            <a:picLocks noGrp="1" noChangeAspect="1"/>
          </p:cNvPicPr>
          <p:nvPr>
            <p:ph idx="1"/>
            <a:videoFile r:link="rId2"/>
            <p:extLst>
              <p:ext uri="{DAA4B4D4-6D71-4841-9C94-3DE7FCFB9230}">
                <p14:media xmlns:p14="http://schemas.microsoft.com/office/powerpoint/2010/main" r:embed="rId1"/>
              </p:ext>
            </p:extLst>
          </p:nvPr>
        </p:nvPicPr>
        <p:blipFill>
          <a:blip r:embed="rId4"/>
          <a:stretch>
            <a:fillRect/>
          </a:stretch>
        </p:blipFill>
        <p:spPr>
          <a:xfrm>
            <a:off x="2046515" y="1417638"/>
            <a:ext cx="4934856" cy="4708525"/>
          </a:xfrm>
        </p:spPr>
      </p:pic>
    </p:spTree>
    <p:extLst>
      <p:ext uri="{BB962C8B-B14F-4D97-AF65-F5344CB8AC3E}">
        <p14:creationId xmlns:p14="http://schemas.microsoft.com/office/powerpoint/2010/main" val="3699566644"/>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4"/>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4"/>
                                        </p:tgtEl>
                                      </p:cBhvr>
                                    </p:cmd>
                                  </p:childTnLst>
                                </p:cTn>
                              </p:par>
                            </p:childTnLst>
                          </p:cTn>
                        </p:par>
                      </p:childTnLst>
                    </p:cTn>
                  </p:par>
                </p:childTnLst>
              </p:cTn>
              <p:nextCondLst>
                <p:cond evt="onClick" delay="0">
                  <p:tgtEl>
                    <p:spTgt spid="4"/>
                  </p:tgtEl>
                </p:cond>
              </p:nextCondLst>
            </p:seq>
            <p:video>
              <p:cMediaNode vol="80000">
                <p:cTn id="7" fill="hold" display="0">
                  <p:stCondLst>
                    <p:cond delay="indefinite"/>
                  </p:stCondLst>
                </p:cTn>
                <p:tgtEl>
                  <p:spTgt spid="4"/>
                </p:tgtEl>
              </p:cMediaNode>
            </p:video>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65591"/>
          </a:xfrm>
        </p:spPr>
        <p:txBody>
          <a:bodyPr>
            <a:normAutofit fontScale="90000"/>
          </a:bodyPr>
          <a:lstStyle/>
          <a:p>
            <a:r>
              <a:rPr lang="en-US" dirty="0"/>
              <a:t>Test result table:</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288308270"/>
              </p:ext>
            </p:extLst>
          </p:nvPr>
        </p:nvGraphicFramePr>
        <p:xfrm>
          <a:off x="457200" y="726765"/>
          <a:ext cx="8229600" cy="5723724"/>
        </p:xfrm>
        <a:graphic>
          <a:graphicData uri="http://schemas.openxmlformats.org/drawingml/2006/table">
            <a:tbl>
              <a:tblPr firstRow="1" bandRow="1">
                <a:tableStyleId>{5C22544A-7EE6-4342-B048-85BDC9FD1C3A}</a:tableStyleId>
              </a:tblPr>
              <a:tblGrid>
                <a:gridCol w="1645920">
                  <a:extLst>
                    <a:ext uri="{9D8B030D-6E8A-4147-A177-3AD203B41FA5}">
                      <a16:colId xmlns:a16="http://schemas.microsoft.com/office/drawing/2014/main" val="1236009534"/>
                    </a:ext>
                  </a:extLst>
                </a:gridCol>
                <a:gridCol w="1645920">
                  <a:extLst>
                    <a:ext uri="{9D8B030D-6E8A-4147-A177-3AD203B41FA5}">
                      <a16:colId xmlns:a16="http://schemas.microsoft.com/office/drawing/2014/main" val="1722438552"/>
                    </a:ext>
                  </a:extLst>
                </a:gridCol>
                <a:gridCol w="1645920">
                  <a:extLst>
                    <a:ext uri="{9D8B030D-6E8A-4147-A177-3AD203B41FA5}">
                      <a16:colId xmlns:a16="http://schemas.microsoft.com/office/drawing/2014/main" val="101952780"/>
                    </a:ext>
                  </a:extLst>
                </a:gridCol>
                <a:gridCol w="1645920">
                  <a:extLst>
                    <a:ext uri="{9D8B030D-6E8A-4147-A177-3AD203B41FA5}">
                      <a16:colId xmlns:a16="http://schemas.microsoft.com/office/drawing/2014/main" val="3269864071"/>
                    </a:ext>
                  </a:extLst>
                </a:gridCol>
                <a:gridCol w="1645920">
                  <a:extLst>
                    <a:ext uri="{9D8B030D-6E8A-4147-A177-3AD203B41FA5}">
                      <a16:colId xmlns:a16="http://schemas.microsoft.com/office/drawing/2014/main" val="3486108753"/>
                    </a:ext>
                  </a:extLst>
                </a:gridCol>
              </a:tblGrid>
              <a:tr h="585863">
                <a:tc>
                  <a:txBody>
                    <a:bodyPr/>
                    <a:lstStyle/>
                    <a:p>
                      <a:r>
                        <a:rPr lang="en-US" sz="1400" dirty="0"/>
                        <a:t>Test case</a:t>
                      </a:r>
                    </a:p>
                  </a:txBody>
                  <a:tcPr/>
                </a:tc>
                <a:tc>
                  <a:txBody>
                    <a:bodyPr/>
                    <a:lstStyle/>
                    <a:p>
                      <a:r>
                        <a:rPr lang="en-US" sz="1400" dirty="0"/>
                        <a:t>Input condition</a:t>
                      </a:r>
                    </a:p>
                  </a:txBody>
                  <a:tcPr/>
                </a:tc>
                <a:tc>
                  <a:txBody>
                    <a:bodyPr/>
                    <a:lstStyle/>
                    <a:p>
                      <a:r>
                        <a:rPr lang="en-US" sz="1400" dirty="0"/>
                        <a:t>Expected output</a:t>
                      </a:r>
                    </a:p>
                  </a:txBody>
                  <a:tcPr/>
                </a:tc>
                <a:tc>
                  <a:txBody>
                    <a:bodyPr/>
                    <a:lstStyle/>
                    <a:p>
                      <a:r>
                        <a:rPr lang="en-US" sz="1400" dirty="0"/>
                        <a:t>Actual output</a:t>
                      </a:r>
                    </a:p>
                  </a:txBody>
                  <a:tcPr/>
                </a:tc>
                <a:tc>
                  <a:txBody>
                    <a:bodyPr/>
                    <a:lstStyle/>
                    <a:p>
                      <a:r>
                        <a:rPr lang="en-US" sz="1400" dirty="0"/>
                        <a:t>Status</a:t>
                      </a:r>
                    </a:p>
                  </a:txBody>
                  <a:tcPr/>
                </a:tc>
                <a:extLst>
                  <a:ext uri="{0D108BD9-81ED-4DB2-BD59-A6C34878D82A}">
                    <a16:rowId xmlns:a16="http://schemas.microsoft.com/office/drawing/2014/main" val="3836280933"/>
                  </a:ext>
                </a:extLst>
              </a:tr>
              <a:tr h="1358136">
                <a:tc>
                  <a:txBody>
                    <a:bodyPr/>
                    <a:lstStyle/>
                    <a:p>
                      <a:r>
                        <a:rPr lang="en-US" sz="1400" dirty="0"/>
                        <a:t>Test 1</a:t>
                      </a:r>
                    </a:p>
                  </a:txBody>
                  <a:tcPr/>
                </a:tc>
                <a:tc>
                  <a:txBody>
                    <a:bodyPr/>
                    <a:lstStyle/>
                    <a:p>
                      <a:r>
                        <a:rPr lang="en-US" sz="1400" dirty="0"/>
                        <a:t>No button pressed</a:t>
                      </a:r>
                    </a:p>
                  </a:txBody>
                  <a:tcPr/>
                </a:tc>
                <a:tc>
                  <a:txBody>
                    <a:bodyPr/>
                    <a:lstStyle/>
                    <a:p>
                      <a:r>
                        <a:rPr lang="en-US" sz="1400" dirty="0"/>
                        <a:t>Yellow LED ON (STANDBY), green</a:t>
                      </a:r>
                      <a:r>
                        <a:rPr lang="en-US" sz="1400" baseline="0" dirty="0"/>
                        <a:t> LED and RED LED OFF, BUZZER OFF</a:t>
                      </a:r>
                      <a:endParaRPr lang="en-US" sz="1400" dirty="0"/>
                    </a:p>
                  </a:txBody>
                  <a:tcPr/>
                </a:tc>
                <a:tc>
                  <a:txBody>
                    <a:bodyPr/>
                    <a:lstStyle/>
                    <a:p>
                      <a:r>
                        <a:rPr lang="en-US" sz="1400" dirty="0"/>
                        <a:t>Yellow</a:t>
                      </a:r>
                      <a:r>
                        <a:rPr lang="en-US" sz="1400" baseline="0" dirty="0"/>
                        <a:t> LED remained ON, green and red LEDs remained OFF, BUZZER remained OFF</a:t>
                      </a:r>
                      <a:endParaRPr lang="en-US" sz="1400" dirty="0"/>
                    </a:p>
                  </a:txBody>
                  <a:tcPr/>
                </a:tc>
                <a:tc>
                  <a:txBody>
                    <a:bodyPr/>
                    <a:lstStyle/>
                    <a:p>
                      <a:r>
                        <a:rPr lang="en-US" sz="1400" dirty="0"/>
                        <a:t>pass</a:t>
                      </a:r>
                    </a:p>
                  </a:txBody>
                  <a:tcPr/>
                </a:tc>
                <a:extLst>
                  <a:ext uri="{0D108BD9-81ED-4DB2-BD59-A6C34878D82A}">
                    <a16:rowId xmlns:a16="http://schemas.microsoft.com/office/drawing/2014/main" val="2688049019"/>
                  </a:ext>
                </a:extLst>
              </a:tr>
              <a:tr h="1339115">
                <a:tc>
                  <a:txBody>
                    <a:bodyPr/>
                    <a:lstStyle/>
                    <a:p>
                      <a:r>
                        <a:rPr lang="en-US" sz="1400" dirty="0"/>
                        <a:t>Test 2</a:t>
                      </a:r>
                    </a:p>
                  </a:txBody>
                  <a:tcPr/>
                </a:tc>
                <a:tc>
                  <a:txBody>
                    <a:bodyPr/>
                    <a:lstStyle/>
                    <a:p>
                      <a:r>
                        <a:rPr lang="en-US" sz="1400" dirty="0"/>
                        <a:t>Correct access button </a:t>
                      </a:r>
                    </a:p>
                  </a:txBody>
                  <a:tcPr/>
                </a:tc>
                <a:tc>
                  <a:txBody>
                    <a:bodyPr/>
                    <a:lstStyle/>
                    <a:p>
                      <a:r>
                        <a:rPr lang="en-US" sz="1400" dirty="0"/>
                        <a:t>GREEN LED ON, YELLOW and RED LEDS</a:t>
                      </a:r>
                      <a:r>
                        <a:rPr lang="en-US" sz="1400" baseline="0" dirty="0"/>
                        <a:t> OFF, SHORT BUZZER BEEP</a:t>
                      </a:r>
                      <a:endParaRPr lang="en-US" sz="1400" dirty="0"/>
                    </a:p>
                  </a:txBody>
                  <a:tcPr/>
                </a:tc>
                <a:tc>
                  <a:txBody>
                    <a:bodyPr/>
                    <a:lstStyle/>
                    <a:p>
                      <a:r>
                        <a:rPr lang="en-US" sz="1400" dirty="0"/>
                        <a:t>Green LED turned</a:t>
                      </a:r>
                      <a:r>
                        <a:rPr lang="en-US" sz="1400" baseline="0" dirty="0"/>
                        <a:t> ON and buzzer produced short beep</a:t>
                      </a:r>
                      <a:endParaRPr lang="en-US" sz="1400" dirty="0"/>
                    </a:p>
                  </a:txBody>
                  <a:tcPr/>
                </a:tc>
                <a:tc>
                  <a:txBody>
                    <a:bodyPr/>
                    <a:lstStyle/>
                    <a:p>
                      <a:r>
                        <a:rPr lang="en-US" sz="1400" dirty="0"/>
                        <a:t>Pass</a:t>
                      </a:r>
                    </a:p>
                  </a:txBody>
                  <a:tcPr/>
                </a:tc>
                <a:extLst>
                  <a:ext uri="{0D108BD9-81ED-4DB2-BD59-A6C34878D82A}">
                    <a16:rowId xmlns:a16="http://schemas.microsoft.com/office/drawing/2014/main" val="3155495619"/>
                  </a:ext>
                </a:extLst>
              </a:tr>
              <a:tr h="1339115">
                <a:tc>
                  <a:txBody>
                    <a:bodyPr/>
                    <a:lstStyle/>
                    <a:p>
                      <a:r>
                        <a:rPr lang="en-US" sz="1400" dirty="0"/>
                        <a:t>Test 3</a:t>
                      </a:r>
                    </a:p>
                  </a:txBody>
                  <a:tcPr/>
                </a:tc>
                <a:tc>
                  <a:txBody>
                    <a:bodyPr/>
                    <a:lstStyle/>
                    <a:p>
                      <a:r>
                        <a:rPr lang="en-US" sz="1400" dirty="0"/>
                        <a:t>Wrong access button</a:t>
                      </a:r>
                    </a:p>
                  </a:txBody>
                  <a:tcPr/>
                </a:tc>
                <a:tc>
                  <a:txBody>
                    <a:bodyPr/>
                    <a:lstStyle/>
                    <a:p>
                      <a:r>
                        <a:rPr lang="en-US" sz="1400" dirty="0"/>
                        <a:t>RED</a:t>
                      </a:r>
                      <a:r>
                        <a:rPr lang="en-US" sz="1400" baseline="0" dirty="0"/>
                        <a:t> LED ON, YELLOW and GREEN LEDS OFF, LONG BUZZER BEEP</a:t>
                      </a:r>
                      <a:endParaRPr lang="en-US" sz="1400" dirty="0"/>
                    </a:p>
                  </a:txBody>
                  <a:tcPr/>
                </a:tc>
                <a:tc>
                  <a:txBody>
                    <a:bodyPr/>
                    <a:lstStyle/>
                    <a:p>
                      <a:r>
                        <a:rPr lang="en-US" sz="1400" dirty="0"/>
                        <a:t>Red LED turned ON and buzzer produced a long beep</a:t>
                      </a:r>
                    </a:p>
                  </a:txBody>
                  <a:tcPr/>
                </a:tc>
                <a:tc>
                  <a:txBody>
                    <a:bodyPr/>
                    <a:lstStyle/>
                    <a:p>
                      <a:r>
                        <a:rPr lang="en-US" sz="1400" dirty="0"/>
                        <a:t>Pass</a:t>
                      </a:r>
                    </a:p>
                  </a:txBody>
                  <a:tcPr/>
                </a:tc>
                <a:extLst>
                  <a:ext uri="{0D108BD9-81ED-4DB2-BD59-A6C34878D82A}">
                    <a16:rowId xmlns:a16="http://schemas.microsoft.com/office/drawing/2014/main" val="3847345754"/>
                  </a:ext>
                </a:extLst>
              </a:tr>
              <a:tr h="1088031">
                <a:tc>
                  <a:txBody>
                    <a:bodyPr/>
                    <a:lstStyle/>
                    <a:p>
                      <a:r>
                        <a:rPr lang="en-US" sz="1400" dirty="0"/>
                        <a:t>Test 4</a:t>
                      </a:r>
                    </a:p>
                  </a:txBody>
                  <a:tcPr/>
                </a:tc>
                <a:tc>
                  <a:txBody>
                    <a:bodyPr/>
                    <a:lstStyle/>
                    <a:p>
                      <a:r>
                        <a:rPr lang="en-US" sz="1400" dirty="0"/>
                        <a:t>Reset button pressed </a:t>
                      </a:r>
                    </a:p>
                  </a:txBody>
                  <a:tcPr/>
                </a:tc>
                <a:tc>
                  <a:txBody>
                    <a:bodyPr/>
                    <a:lstStyle/>
                    <a:p>
                      <a:r>
                        <a:rPr lang="en-US" sz="1400" dirty="0"/>
                        <a:t>System</a:t>
                      </a:r>
                      <a:r>
                        <a:rPr lang="en-US" sz="1400" baseline="0" dirty="0"/>
                        <a:t> return to standby mode with yellow LED ON</a:t>
                      </a:r>
                      <a:endParaRPr lang="en-US" sz="1400" dirty="0"/>
                    </a:p>
                  </a:txBody>
                  <a:tcPr/>
                </a:tc>
                <a:tc>
                  <a:txBody>
                    <a:bodyPr/>
                    <a:lstStyle/>
                    <a:p>
                      <a:r>
                        <a:rPr lang="en-US" sz="1400" dirty="0"/>
                        <a:t>System successfully</a:t>
                      </a:r>
                      <a:r>
                        <a:rPr lang="en-US" sz="1400" baseline="0" dirty="0"/>
                        <a:t> returned to standby mode</a:t>
                      </a:r>
                      <a:endParaRPr lang="en-US" sz="1400" dirty="0"/>
                    </a:p>
                  </a:txBody>
                  <a:tcPr/>
                </a:tc>
                <a:tc>
                  <a:txBody>
                    <a:bodyPr/>
                    <a:lstStyle/>
                    <a:p>
                      <a:r>
                        <a:rPr lang="en-US" sz="1400" dirty="0"/>
                        <a:t>Pass</a:t>
                      </a:r>
                    </a:p>
                  </a:txBody>
                  <a:tcPr/>
                </a:tc>
                <a:extLst>
                  <a:ext uri="{0D108BD9-81ED-4DB2-BD59-A6C34878D82A}">
                    <a16:rowId xmlns:a16="http://schemas.microsoft.com/office/drawing/2014/main" val="3776324642"/>
                  </a:ext>
                </a:extLst>
              </a:tr>
            </a:tbl>
          </a:graphicData>
        </a:graphic>
      </p:graphicFrame>
    </p:spTree>
    <p:extLst>
      <p:ext uri="{BB962C8B-B14F-4D97-AF65-F5344CB8AC3E}">
        <p14:creationId xmlns:p14="http://schemas.microsoft.com/office/powerpoint/2010/main" val="38604278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Conclusion</a:t>
            </a:r>
            <a:r>
              <a:rPr lang="en-US" dirty="0"/>
              <a:t>:</a:t>
            </a:r>
            <a:endParaRPr dirty="0"/>
          </a:p>
        </p:txBody>
      </p:sp>
      <p:sp>
        <p:nvSpPr>
          <p:cNvPr id="3" name="Content Placeholder 2"/>
          <p:cNvSpPr>
            <a:spLocks noGrp="1"/>
          </p:cNvSpPr>
          <p:nvPr>
            <p:ph idx="1"/>
          </p:nvPr>
        </p:nvSpPr>
        <p:spPr/>
        <p:txBody>
          <a:bodyPr>
            <a:normAutofit/>
          </a:bodyPr>
          <a:lstStyle/>
          <a:p>
            <a:pPr>
              <a:defRPr sz="2400"/>
            </a:pPr>
            <a:r>
              <a:rPr lang="en-US" sz="2400" dirty="0">
                <a:latin typeface="Times New Roman" panose="02020603050405020304" pitchFamily="18" charset="0"/>
                <a:cs typeface="Times New Roman" panose="02020603050405020304" pitchFamily="18" charset="0"/>
              </a:rPr>
              <a:t>The ATmega32-Based Access Control and Intruder Detection System was successfully designed and simulated. The project demonstrated the integration of hardware and embedded software to provide reliable access control and intrusion detection. The results confirmed that the system operates as intended, making it a practical, cost-effective, and scalable solution for basic security applications.</a:t>
            </a:r>
            <a:endParaRPr sz="2400" dirty="0">
              <a:latin typeface="Times New Roman" panose="02020603050405020304" pitchFamily="18" charset="0"/>
              <a:cs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192</TotalTime>
  <Words>554</Words>
  <Application>Microsoft Office PowerPoint</Application>
  <PresentationFormat>On-screen Show (4:3)</PresentationFormat>
  <Paragraphs>94</Paragraphs>
  <Slides>18</Slides>
  <Notes>0</Notes>
  <HiddenSlides>0</HiddenSlides>
  <MMClips>1</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Calibri</vt:lpstr>
      <vt:lpstr>Times New Roman</vt:lpstr>
      <vt:lpstr>Office Theme</vt:lpstr>
      <vt:lpstr>Digital Input/Output-Based Security Access Indicator</vt:lpstr>
      <vt:lpstr>Problem Statement</vt:lpstr>
      <vt:lpstr>Objectives</vt:lpstr>
      <vt:lpstr>System Block Diagram</vt:lpstr>
      <vt:lpstr>Firmware Flowchart:</vt:lpstr>
      <vt:lpstr>Pin Mapping</vt:lpstr>
      <vt:lpstr>System Operation</vt:lpstr>
      <vt:lpstr>Kicad schematic</vt:lpstr>
      <vt:lpstr>Kicad PCB layout</vt:lpstr>
      <vt:lpstr>PCB 3D view:</vt:lpstr>
      <vt:lpstr>Firmware Development Process</vt:lpstr>
      <vt:lpstr>Simulation: SimulIde working simulation</vt:lpstr>
      <vt:lpstr>Running simulation (standby mode): only yellow LED is ON</vt:lpstr>
      <vt:lpstr>Correct button press: Green LED turn ON and short buzzer beep. </vt:lpstr>
      <vt:lpstr>Wrong button press: Red LED turn ON and long buzzer beep.</vt:lpstr>
      <vt:lpstr>Complete Simulation with reset button operation:</vt:lpstr>
      <vt:lpstr>Test result table:</vt:lpstr>
      <vt:lpstr>Conclusion: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Digital Input/Output-Based Security Access Indicator</dc:title>
  <dc:subject/>
  <dc:creator>Hon.Juma</dc:creator>
  <cp:keywords/>
  <dc:description>generated using python-pptx</dc:description>
  <cp:lastModifiedBy>James greyson</cp:lastModifiedBy>
  <cp:revision>26</cp:revision>
  <dcterms:created xsi:type="dcterms:W3CDTF">2013-01-27T09:14:16Z</dcterms:created>
  <dcterms:modified xsi:type="dcterms:W3CDTF">2026-07-01T11:26:45Z</dcterms:modified>
  <cp:category/>
</cp:coreProperties>
</file>